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-490" y="-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3558"/>
          </a:solidFill>
          <a:ln w="12700">
            <a:solidFill>
              <a:srgbClr val="1B35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400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57200"/>
            <a:ext cx="118872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57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r-Latn-RS" sz="1000" b="1" dirty="0" smtClean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00B4D8"/>
                </a:solidFill>
              </a:rPr>
              <a:t>PROJEKAT · NEURONSKE MREŽE · 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5943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Detekcija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finansijskih prevara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pomoću neuronskih mreža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B4D8"/>
                </a:solidFill>
              </a:rPr>
              <a:t>PROBLEM  </a:t>
            </a:r>
            <a:r>
              <a:rPr lang="en-US" sz="1100" dirty="0">
                <a:solidFill>
                  <a:srgbClr val="AABCCE"/>
                </a:solidFill>
              </a:rPr>
              <a:t>Binarna klasifikacija na </a:t>
            </a:r>
            <a:r>
              <a:rPr lang="en-US" sz="1100" dirty="0" err="1">
                <a:solidFill>
                  <a:srgbClr val="AABCCE"/>
                </a:solidFill>
              </a:rPr>
              <a:t>neuravnoteženom</a:t>
            </a:r>
            <a:r>
              <a:rPr lang="en-US" sz="1100" dirty="0">
                <a:solidFill>
                  <a:srgbClr val="AABCCE"/>
                </a:solidFill>
              </a:rPr>
              <a:t> </a:t>
            </a:r>
            <a:r>
              <a:rPr lang="en-US" sz="1100" dirty="0" smtClean="0">
                <a:solidFill>
                  <a:srgbClr val="AABCCE"/>
                </a:solidFill>
              </a:rPr>
              <a:t>dataset</a:t>
            </a:r>
            <a:r>
              <a:rPr lang="sr-Latn-RS" sz="1100" dirty="0" smtClean="0">
                <a:solidFill>
                  <a:srgbClr val="AABCCE"/>
                </a:solidFill>
              </a:rPr>
              <a:t>-</a:t>
            </a:r>
            <a:r>
              <a:rPr lang="en-US" sz="1100" dirty="0" smtClean="0">
                <a:solidFill>
                  <a:srgbClr val="AABCCE"/>
                </a:solidFill>
              </a:rPr>
              <a:t>u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B4D8"/>
                </a:solidFill>
              </a:rPr>
              <a:t>ULAZ  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CCE"/>
                </a:solidFill>
              </a:rPr>
              <a:t>Vektor obeležja transakcije (V1–V28, Amount, Time)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0B4D8"/>
                </a:solidFill>
              </a:rPr>
              <a:t>IZLAZ  </a:t>
            </a:r>
            <a:endParaRPr lang="en-US" sz="11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AABCCE"/>
                </a:solidFill>
              </a:rPr>
              <a:t>0 — regularna / 1 — prevara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32918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sr-Latn-RS" sz="1100" b="1" dirty="0" smtClean="0">
                <a:solidFill>
                  <a:srgbClr val="AABCCE"/>
                </a:solidFill>
              </a:rPr>
              <a:t>Student:</a:t>
            </a:r>
          </a:p>
          <a:p>
            <a:pPr marL="0" indent="0" algn="ctr">
              <a:buNone/>
            </a:pPr>
            <a:r>
              <a:rPr lang="en-US" sz="1100" dirty="0" err="1" smtClean="0">
                <a:solidFill>
                  <a:srgbClr val="AABCCE"/>
                </a:solidFill>
              </a:rPr>
              <a:t>Aleksandar</a:t>
            </a:r>
            <a:r>
              <a:rPr lang="en-US" sz="1100" dirty="0" smtClean="0">
                <a:solidFill>
                  <a:srgbClr val="AABCCE"/>
                </a:solidFill>
              </a:rPr>
              <a:t> </a:t>
            </a:r>
            <a:r>
              <a:rPr lang="en-US" sz="1100" dirty="0" err="1" smtClean="0">
                <a:solidFill>
                  <a:srgbClr val="AABCCE"/>
                </a:solidFill>
              </a:rPr>
              <a:t>Stoj</a:t>
            </a:r>
            <a:r>
              <a:rPr lang="sr-Latn-RS" sz="1100" dirty="0" smtClean="0">
                <a:solidFill>
                  <a:srgbClr val="AABCCE"/>
                </a:solidFill>
              </a:rPr>
              <a:t>i</a:t>
            </a:r>
            <a:r>
              <a:rPr lang="en-US" sz="1100" dirty="0" err="1" smtClean="0">
                <a:solidFill>
                  <a:srgbClr val="AABCCE"/>
                </a:solidFill>
              </a:rPr>
              <a:t>lković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CCE"/>
                </a:solidFill>
              </a:rPr>
              <a:t>2022/0102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960120"/>
            <a:ext cx="23504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6B8FAF"/>
                </a:solidFill>
              </a:rPr>
              <a:t>Fakultet</a:t>
            </a:r>
            <a:r>
              <a:rPr lang="en-US" sz="1200" b="1" dirty="0" smtClean="0">
                <a:solidFill>
                  <a:srgbClr val="6B8FAF"/>
                </a:solidFill>
              </a:rPr>
              <a:t> </a:t>
            </a:r>
            <a:r>
              <a:rPr lang="en-US" sz="1200" b="1" dirty="0" err="1" smtClean="0">
                <a:solidFill>
                  <a:srgbClr val="6B8FAF"/>
                </a:solidFill>
              </a:rPr>
              <a:t>organizacionih</a:t>
            </a:r>
            <a:r>
              <a:rPr lang="en-US" sz="1200" b="1" dirty="0" smtClean="0">
                <a:solidFill>
                  <a:srgbClr val="6B8FAF"/>
                </a:solidFill>
              </a:rPr>
              <a:t> </a:t>
            </a:r>
            <a:r>
              <a:rPr lang="en-US" sz="1200" b="1" dirty="0" err="1" smtClean="0">
                <a:solidFill>
                  <a:srgbClr val="6B8FAF"/>
                </a:solidFill>
              </a:rPr>
              <a:t>nauka</a:t>
            </a:r>
            <a:endParaRPr lang="sr-Latn-RS" sz="1200" b="1" dirty="0" smtClean="0">
              <a:solidFill>
                <a:srgbClr val="6B8FAF"/>
              </a:solidFill>
            </a:endParaRPr>
          </a:p>
          <a:p>
            <a:pPr marL="0" indent="0" algn="ctr">
              <a:buNone/>
            </a:pPr>
            <a:r>
              <a:rPr lang="sr-Latn-RS" sz="1100" b="1" dirty="0" smtClean="0">
                <a:solidFill>
                  <a:srgbClr val="6B8FAF"/>
                </a:solidFill>
              </a:rPr>
              <a:t>Laboratorija za veštačku inteligenciju</a:t>
            </a:r>
          </a:p>
          <a:p>
            <a:pPr marL="0" indent="0" algn="ctr">
              <a:buNone/>
            </a:pPr>
            <a:r>
              <a:rPr lang="en-US" sz="900" dirty="0" err="1" smtClean="0">
                <a:solidFill>
                  <a:srgbClr val="6B8FAF"/>
                </a:solidFill>
              </a:rPr>
              <a:t>Duboko</a:t>
            </a:r>
            <a:r>
              <a:rPr lang="en-US" sz="900" dirty="0" smtClean="0">
                <a:solidFill>
                  <a:srgbClr val="6B8FAF"/>
                </a:solidFill>
              </a:rPr>
              <a:t> </a:t>
            </a:r>
            <a:r>
              <a:rPr lang="en-US" sz="900" dirty="0" err="1" smtClean="0">
                <a:solidFill>
                  <a:srgbClr val="6B8FAF"/>
                </a:solidFill>
              </a:rPr>
              <a:t>učenje</a:t>
            </a:r>
            <a:r>
              <a:rPr lang="en-US" sz="900" dirty="0" smtClean="0">
                <a:solidFill>
                  <a:srgbClr val="6B8FAF"/>
                </a:solidFill>
              </a:rPr>
              <a:t> </a:t>
            </a:r>
            <a:r>
              <a:rPr lang="en-US" sz="900" dirty="0" err="1" smtClean="0">
                <a:solidFill>
                  <a:srgbClr val="6B8FAF"/>
                </a:solidFill>
              </a:rPr>
              <a:t>i</a:t>
            </a:r>
            <a:r>
              <a:rPr lang="en-US" sz="900" dirty="0" smtClean="0">
                <a:solidFill>
                  <a:srgbClr val="6B8FAF"/>
                </a:solidFill>
              </a:rPr>
              <a:t> </a:t>
            </a:r>
            <a:r>
              <a:rPr lang="en-US" sz="900" dirty="0" err="1" smtClean="0">
                <a:solidFill>
                  <a:srgbClr val="6B8FAF"/>
                </a:solidFill>
              </a:rPr>
              <a:t>neuronske</a:t>
            </a:r>
            <a:r>
              <a:rPr lang="en-US" sz="900" dirty="0" smtClean="0">
                <a:solidFill>
                  <a:srgbClr val="6B8FAF"/>
                </a:solidFill>
              </a:rPr>
              <a:t> </a:t>
            </a:r>
            <a:r>
              <a:rPr lang="en-US" sz="900" dirty="0" err="1" smtClean="0">
                <a:solidFill>
                  <a:srgbClr val="6B8FAF"/>
                </a:solidFill>
              </a:rPr>
              <a:t>mreže</a:t>
            </a:r>
            <a:endParaRPr lang="en-US" sz="900" dirty="0" smtClean="0"/>
          </a:p>
          <a:p>
            <a:pPr marL="0" indent="0" algn="ctr">
              <a:buNone/>
            </a:pPr>
            <a:r>
              <a:rPr lang="en-US" sz="900" dirty="0" smtClean="0">
                <a:solidFill>
                  <a:srgbClr val="6B8FAF"/>
                </a:solidFill>
              </a:rPr>
              <a:t>2025/26</a:t>
            </a:r>
            <a:endParaRPr lang="en-US" sz="900" dirty="0"/>
          </a:p>
        </p:txBody>
      </p:sp>
      <p:pic>
        <p:nvPicPr>
          <p:cNvPr id="20482" name="Picture 2" descr="ОАС – Основне академске студије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1787" y="543168"/>
            <a:ext cx="741226" cy="4681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02 — </a:t>
            </a:r>
            <a:r>
              <a:rPr lang="sr-Latn-RS" sz="900" b="1" kern="0" spc="300" dirty="0" smtClean="0">
                <a:solidFill>
                  <a:srgbClr val="00B4D8"/>
                </a:solidFill>
              </a:rPr>
              <a:t>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 cilj projekta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087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1A2942"/>
                </a:solidFill>
              </a:rPr>
              <a:t>Svaka transakcija se procenjuje kao </a:t>
            </a:r>
            <a:r>
              <a:rPr lang="en-US" sz="1200" b="1" dirty="0">
                <a:solidFill>
                  <a:srgbClr val="1A2942"/>
                </a:solidFill>
              </a:rPr>
              <a:t>legitimna</a:t>
            </a:r>
            <a:r>
              <a:rPr lang="en-US" sz="1150" dirty="0">
                <a:solidFill>
                  <a:srgbClr val="1A2942"/>
                </a:solidFill>
              </a:rPr>
              <a:t> ili </a:t>
            </a:r>
            <a:r>
              <a:rPr lang="en-US" sz="1200" b="1" dirty="0">
                <a:solidFill>
                  <a:srgbClr val="1A2942"/>
                </a:solidFill>
              </a:rPr>
              <a:t>lažna</a:t>
            </a:r>
            <a:r>
              <a:rPr lang="en-US" sz="1150" dirty="0">
                <a:solidFill>
                  <a:srgbClr val="1A2942"/>
                </a:solidFill>
              </a:rPr>
              <a:t> — ručna provera je nepraktična u realnom vremenu.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3258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5087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1A2942"/>
                </a:solidFill>
              </a:rPr>
              <a:t>Dataset je izrazito neuravnotežen: samo </a:t>
            </a:r>
            <a:r>
              <a:rPr lang="en-US" sz="1200" b="1" dirty="0">
                <a:solidFill>
                  <a:srgbClr val="1A2942"/>
                </a:solidFill>
              </a:rPr>
              <a:t>0.17%</a:t>
            </a:r>
            <a:r>
              <a:rPr lang="en-US" sz="1150" dirty="0">
                <a:solidFill>
                  <a:srgbClr val="1A2942"/>
                </a:solidFill>
              </a:rPr>
              <a:t> transakcija su prevare, što otežava klasifikaciju.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325880"/>
            <a:ext cx="2697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5087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1488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150" dirty="0">
                <a:solidFill>
                  <a:srgbClr val="1A2942"/>
                </a:solidFill>
              </a:rPr>
              <a:t>Cilj: automatski model koji prepoznaje prevarne transakcije uz visok Recall i zadovoljavajući Precision.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84048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B3558"/>
          </a:solidFill>
          <a:ln w="12700">
            <a:solidFill>
              <a:srgbClr val="1B35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1363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</a:rPr>
              <a:t>PRIMER TOKA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40080" y="418795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B4D8"/>
                </a:solidFill>
              </a:rPr>
              <a:t>ULAZ: </a:t>
            </a:r>
            <a:r>
              <a:rPr lang="en-US" sz="1150" dirty="0">
                <a:solidFill>
                  <a:srgbClr val="FFFFFF"/>
                </a:solidFill>
              </a:rPr>
              <a:t>V1=-1.36, V2=0.07, …, Amount=149.62</a:t>
            </a:r>
            <a:r>
              <a:rPr lang="en-US" sz="1150" dirty="0">
                <a:solidFill>
                  <a:srgbClr val="6B8FAF"/>
                </a:solidFill>
              </a:rPr>
              <a:t>   →   neuronska mreža   →   </a:t>
            </a:r>
            <a:r>
              <a:rPr lang="en-US" sz="1150" b="1" dirty="0">
                <a:solidFill>
                  <a:srgbClr val="00B4D8"/>
                </a:solidFill>
              </a:rPr>
              <a:t>IZLAZ: </a:t>
            </a:r>
            <a:r>
              <a:rPr lang="en-US" sz="1150" dirty="0">
                <a:solidFill>
                  <a:srgbClr val="FFFFFF"/>
                </a:solidFill>
              </a:rPr>
              <a:t>0 — Regularna transakcija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03 — PODACI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284.807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CCE"/>
                </a:solidFill>
              </a:rPr>
              <a:t>transakcija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CCE"/>
                </a:solidFill>
              </a:rPr>
              <a:t>kolona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0" y="123444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1298448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06240" y="17830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CCE"/>
                </a:solidFill>
              </a:rPr>
              <a:t>su prevare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242316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Korišćene kolone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365760" y="2697480"/>
          <a:ext cx="5035121" cy="2194560"/>
        </p:xfrm>
        <a:graphic>
          <a:graphicData uri="http://schemas.openxmlformats.org/drawingml/2006/table">
            <a:tbl>
              <a:tblPr/>
              <a:tblGrid>
                <a:gridCol w="1302186"/>
                <a:gridCol w="3732935"/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Kolona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Opis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V1 – V28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PCA transformisana obeležja (anonimizovana)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Amount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Iznos transakcije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Vreme od prve transakcije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 = regularna, 1 = prevara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669280" y="2423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Raspodela klasa</a:t>
            </a:r>
            <a:endParaRPr lang="en-US" sz="1100" dirty="0"/>
          </a:p>
        </p:txBody>
      </p:sp>
      <p:pic>
        <p:nvPicPr>
          <p:cNvPr id="17" name="Image 0" descr="/home/claude/distribucija_klas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69280" y="2697480"/>
            <a:ext cx="3200400" cy="2240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04 — PREPROCESIRANJE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 i priprema podataka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65760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25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942"/>
                </a:solidFill>
              </a:rPr>
              <a:t>Učitavanje CSV fajla (creditcard.csv)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65376"/>
            <a:ext cx="365760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653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8653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942"/>
                </a:solidFill>
              </a:rPr>
              <a:t>Nema nedostajućih </a:t>
            </a:r>
            <a:r>
              <a:rPr lang="en-US" sz="1100" dirty="0" err="1">
                <a:solidFill>
                  <a:srgbClr val="1A2942"/>
                </a:solidFill>
              </a:rPr>
              <a:t>vrednosti</a:t>
            </a:r>
            <a:r>
              <a:rPr lang="en-US" sz="1100" dirty="0">
                <a:solidFill>
                  <a:srgbClr val="1A2942"/>
                </a:solidFill>
              </a:rPr>
              <a:t> </a:t>
            </a:r>
            <a:r>
              <a:rPr lang="sr-Latn-RS" sz="1100" dirty="0" smtClean="0">
                <a:solidFill>
                  <a:srgbClr val="1A2942"/>
                </a:solidFill>
              </a:rPr>
              <a:t>među kolonama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404872"/>
            <a:ext cx="365760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048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4048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942"/>
                </a:solidFill>
              </a:rPr>
              <a:t>StandardScaler na kolonama Amount i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365760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443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9443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942"/>
                </a:solidFill>
              </a:rPr>
              <a:t>Dodavanje scaled_Amount i scaled_Time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83864"/>
            <a:ext cx="365760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4838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48386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942"/>
                </a:solidFill>
              </a:rPr>
              <a:t>Uklanjanje originalnih Amount i Time kolona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23360"/>
            <a:ext cx="365760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023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0233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942"/>
                </a:solidFill>
              </a:rPr>
              <a:t>Stratifikovana podela 80% / 20</a:t>
            </a:r>
            <a:r>
              <a:rPr lang="en-US" sz="1100" dirty="0" smtClean="0">
                <a:solidFill>
                  <a:srgbClr val="1A2942"/>
                </a:solidFill>
              </a:rPr>
              <a:t>%</a:t>
            </a:r>
            <a:r>
              <a:rPr lang="sr-Latn-RS" sz="1100" dirty="0" smtClean="0">
                <a:solidFill>
                  <a:srgbClr val="1A2942"/>
                </a:solidFill>
              </a:rPr>
              <a:t>  (train/test)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Raspodela iznosa i vremena transakcija</a:t>
            </a:r>
            <a:endParaRPr lang="en-US" sz="1100" dirty="0"/>
          </a:p>
        </p:txBody>
      </p:sp>
      <p:pic>
        <p:nvPicPr>
          <p:cNvPr id="24" name="Image 0" descr="/home/claude/raspodela_iznosa_transakcij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0" y="1627632"/>
            <a:ext cx="3840480" cy="1645920"/>
          </a:xfrm>
          <a:prstGeom prst="rect">
            <a:avLst/>
          </a:prstGeom>
        </p:spPr>
      </p:pic>
      <p:pic>
        <p:nvPicPr>
          <p:cNvPr id="25" name="Image 1" descr="/home/claude/raspodela_vremena_transakcija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29200" y="3337560"/>
            <a:ext cx="3840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05 — PRISTUPI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Korišćeni modeli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788920" cy="3520440"/>
          </a:xfrm>
          <a:prstGeom prst="roundRect">
            <a:avLst>
              <a:gd name="adj" fmla="val 3279"/>
            </a:avLst>
          </a:prstGeom>
          <a:solidFill>
            <a:srgbClr val="1B355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MODEL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Osnovni model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3591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CCE"/>
                </a:solidFill>
              </a:rPr>
              <a:t>Feedforward neuronska mreža sa ručno odabranim hiperparametrima.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25146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64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B4D8"/>
                </a:solidFill>
              </a:rPr>
              <a:t>Arhitektura: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59359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Dense(64) → Dropout(0.3) → Dense(32) → Dropout(0.3) → Sigmoid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46120" y="1325880"/>
            <a:ext cx="2788920" cy="3520440"/>
          </a:xfrm>
          <a:prstGeom prst="roundRect">
            <a:avLst>
              <a:gd name="adj" fmla="val 3279"/>
            </a:avLst>
          </a:prstGeom>
          <a:solidFill>
            <a:srgbClr val="1B355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4630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MODEL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Weights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83280" y="23591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CCE"/>
                </a:solidFill>
              </a:rPr>
              <a:t>Ista arhitektura, ali sa compute_class_weight('balanced') tokom treninga.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246120"/>
            <a:ext cx="25146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364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B4D8"/>
                </a:solidFill>
              </a:rPr>
              <a:t>Arhitektura: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83280" y="359359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Identična arhitektura + class_weight parametar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72200" y="1325880"/>
            <a:ext cx="2788920" cy="3520440"/>
          </a:xfrm>
          <a:prstGeom prst="roundRect">
            <a:avLst>
              <a:gd name="adj" fmla="val 3279"/>
            </a:avLst>
          </a:prstGeom>
          <a:solidFill>
            <a:srgbClr val="1B3558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1463040"/>
            <a:ext cx="1097280" cy="320040"/>
          </a:xfrm>
          <a:prstGeom prst="roundRect">
            <a:avLst>
              <a:gd name="adj" fmla="val 1428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</a:rPr>
              <a:t>MODEL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 Tuner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235915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ABCCE"/>
                </a:solidFill>
              </a:rPr>
              <a:t>RandomSearch pretraga optimalnih hiperparametara — 10 pokušaja.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246120"/>
            <a:ext cx="25146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33649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00B4D8"/>
                </a:solidFill>
              </a:rPr>
              <a:t>Arhitektura: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09360" y="3593592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C8DA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Dense(128) → Dropout(0.3) → Dense(64) → Dropout(0.2) → Sigmoid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06 — TRENING &amp; ANALIZA OSETLJIVOSTI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Treniranje i hiperparametarska optimizacija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447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KONFIGURACIJA TRENINGA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Optimizer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2"/>
                </a:solidFill>
              </a:rPr>
              <a:t>Adam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1671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Loss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286000" y="21671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2"/>
                </a:solidFill>
              </a:rPr>
              <a:t>binary_crossentropy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50545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Batch size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86000" y="250545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2"/>
                </a:solidFill>
              </a:rPr>
              <a:t>256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843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Epochs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86000" y="28437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2"/>
                </a:solidFill>
              </a:rPr>
              <a:t>20 (uz EarlyStopping)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18211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Monitor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86000" y="31821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942"/>
                </a:solidFill>
              </a:rPr>
              <a:t>val_loss, patience=3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32588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KERAS TUNER — OPTIMALNI HIPERPARAMETRI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4800600" y="1783080"/>
          <a:ext cx="3749040" cy="1691640"/>
        </p:xfrm>
        <a:graphic>
          <a:graphicData uri="http://schemas.openxmlformats.org/drawingml/2006/table">
            <a:tbl>
              <a:tblPr/>
              <a:tblGrid>
                <a:gridCol w="2286000"/>
                <a:gridCol w="1463040"/>
              </a:tblGrid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Hiperparametar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Pronađena vrednost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558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Neuroni u 1. sloju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128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Dropout 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Neuroni u 2. sloju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64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Dropout 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Learning rate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0.0001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365760" y="374904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1B3558"/>
          </a:solidFill>
          <a:ln w="12700">
            <a:solidFill>
              <a:srgbClr val="1B355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840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0B4D8"/>
                </a:solidFill>
              </a:rPr>
              <a:t>ANALIZA OSETLJIVOSTI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40080" y="409651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CCE"/>
                </a:solidFill>
              </a:rPr>
              <a:t>Pored osnovnog modela, analiziran je i uticaj class weights pristupa, kao i različitih kombinacija hiperparametara dobijenih pomoću Keras Tuner RandomSearch algoritma (10 pokušaja, cilj: minimizacija val_loss). Rezultati su pokazali da povećanje složenosti modela ne dovodi automatski do boljih performansi.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07 — REZULTATI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Poređenje performansi modela</a:t>
            </a:r>
            <a:endParaRPr lang="en-US" sz="3200" dirty="0"/>
          </a:p>
        </p:txBody>
      </p:sp>
      <p:pic>
        <p:nvPicPr>
          <p:cNvPr id="5" name="Image 0" descr="/home/claude/evaluacione_metrike_procenti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188720"/>
            <a:ext cx="5029200" cy="2606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94960" y="1188720"/>
            <a:ext cx="3474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577840" y="12618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E4D8C"/>
          </a:solidFill>
          <a:ln w="12700">
            <a:solidFill>
              <a:srgbClr val="1E4D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77840" y="1261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53328" y="1261872"/>
            <a:ext cx="2679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2"/>
                </a:solidFill>
              </a:rPr>
              <a:t>Savršeno balansiran Precision/Recall (81.63%). Solidan polazni model.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394960" y="2148840"/>
            <a:ext cx="3474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222199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53328" y="2221992"/>
            <a:ext cx="2679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2"/>
                </a:solidFill>
              </a:rPr>
              <a:t>Recall 91.84%, ali Precision samo 7.08% — veliki broj lažno pozitivnih. Neupotrebljiv.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3108960"/>
            <a:ext cx="34747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318211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1A7D4E"/>
          </a:solidFill>
          <a:ln w="12700">
            <a:solidFill>
              <a:srgbClr val="1A7D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53328" y="3182112"/>
            <a:ext cx="26791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2"/>
                </a:solidFill>
              </a:rPr>
              <a:t>Recall 82.65% uz Precision 81.00% — najboljim F1-score (81.82%). Konačni model.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74320" y="4046220"/>
            <a:ext cx="8595360" cy="886968"/>
          </a:xfrm>
          <a:prstGeom prst="roundRect">
            <a:avLst>
              <a:gd name="adj" fmla="val 824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41056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</a:rPr>
              <a:t>Glavna metrika: F1-score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48640" y="436168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CCE"/>
                </a:solidFill>
              </a:rPr>
              <a:t>Dataset nije balansiran pa accuracy nije dovoljna metrika. F1-score daje ravnopravniji uvid u kvalitet klasifikacije prevara i regularnih transakcija.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08 — FINALNA EVALUACIJA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Evaluacija najboljeg modela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194560" cy="365760"/>
          </a:xfrm>
          <a:prstGeom prst="roundRect">
            <a:avLst>
              <a:gd name="adj" fmla="val 125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0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</a:rPr>
              <a:t>NAJBOLJI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3 (Keras Tuner)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868680" cy="1005840"/>
          </a:xfrm>
          <a:prstGeom prst="roundRect">
            <a:avLst>
              <a:gd name="adj" fmla="val 736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9572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99.94%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289864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AABCCE"/>
                </a:solidFill>
              </a:rPr>
              <a:t>ACCURACY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25880" y="2331720"/>
            <a:ext cx="868680" cy="1005840"/>
          </a:xfrm>
          <a:prstGeom prst="roundRect">
            <a:avLst>
              <a:gd name="adj" fmla="val 736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239572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89864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AABCCE"/>
                </a:solidFill>
              </a:rPr>
              <a:t>PRECISION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286000" y="2331720"/>
            <a:ext cx="868680" cy="1005840"/>
          </a:xfrm>
          <a:prstGeom prst="roundRect">
            <a:avLst>
              <a:gd name="adj" fmla="val 736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239572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82.65%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89864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AABCCE"/>
                </a:solidFill>
              </a:rPr>
              <a:t>RECALL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246120" y="2331720"/>
            <a:ext cx="868680" cy="1005840"/>
          </a:xfrm>
          <a:prstGeom prst="roundRect">
            <a:avLst>
              <a:gd name="adj" fmla="val 7368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2395728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81.82%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46120" y="2898648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kern="0" spc="50" dirty="0">
                <a:solidFill>
                  <a:srgbClr val="AABCCE"/>
                </a:solidFill>
              </a:rPr>
              <a:t>F1-SCORE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3749040" cy="502920"/>
          </a:xfrm>
          <a:prstGeom prst="roundRect">
            <a:avLst>
              <a:gd name="adj" fmla="val 12727"/>
            </a:avLst>
          </a:prstGeom>
          <a:solidFill>
            <a:srgbClr val="E8F4FD"/>
          </a:solidFill>
          <a:ln w="12700">
            <a:solidFill>
              <a:srgbClr val="E2EA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ROC-AUC: </a:t>
            </a:r>
            <a:r>
              <a:rPr lang="en-US" sz="1100" dirty="0">
                <a:solidFill>
                  <a:srgbClr val="1A2942"/>
                </a:solidFill>
              </a:rPr>
              <a:t>98.05%  —  </a:t>
            </a:r>
            <a:r>
              <a:rPr lang="en-US" sz="1100" dirty="0">
                <a:solidFill>
                  <a:srgbClr val="64748B"/>
                </a:solidFill>
              </a:rPr>
              <a:t>sve tri krive praktično identične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389120" y="123444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Konfuziona matrica</a:t>
            </a:r>
            <a:endParaRPr lang="en-US" sz="1100" dirty="0"/>
          </a:p>
        </p:txBody>
      </p:sp>
      <p:pic>
        <p:nvPicPr>
          <p:cNvPr id="23" name="Image 0" descr="/home/claude/konfuziona_matric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97680" y="1508760"/>
            <a:ext cx="4572000" cy="32004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365760" y="4023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TN=56.845  FP=19  FN=17  TP=81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09 — DISKUSIJA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krive i zaključna razmatranja</a:t>
            </a:r>
            <a:endParaRPr lang="en-US" sz="3200" dirty="0"/>
          </a:p>
        </p:txBody>
      </p:sp>
      <p:pic>
        <p:nvPicPr>
          <p:cNvPr id="5" name="Image 0" descr="/home/claude/roc_kriv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188720"/>
            <a:ext cx="4663440" cy="3474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0" y="118872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212080" y="12618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ROC krive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212080" y="1536192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2"/>
                </a:solidFill>
              </a:rPr>
              <a:t>Sve tri krive su gotovo identične (AUC ≈ 0.98). Razlike u Precision/Recall posledica su položaja odlučne granice, ne kvaliteta naučenog.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0" y="2350008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212080" y="24231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Model 2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212080" y="269748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2"/>
                </a:solidFill>
              </a:rPr>
              <a:t>Class weights pomeraju odlučnu granicu — visok Recall ali katastrofalan Precision (7.08%). Neupotrebljiv u praksi.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029200" y="3511296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AF4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212080" y="3584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Model 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12080" y="3858768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A2942"/>
                </a:solidFill>
              </a:rPr>
              <a:t>Keras Tuner pronašao optimum: Dense(128)→Dense(64), lr=0.0001 — sistematska pretraga donosi merljivo poboljšanje.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28600" y="4636008"/>
            <a:ext cx="8686800" cy="438912"/>
          </a:xfrm>
          <a:prstGeom prst="roundRect">
            <a:avLst>
              <a:gd name="adj" fmla="val 14583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463600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AABCCE"/>
                </a:solidFill>
              </a:rPr>
              <a:t>Neuronske mreže predstavljaju efikasan alat za detekciju finansijskih prevara i mogu imati značajnu primenu u realnim finansijskim sistemima.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3558"/>
          </a:solidFill>
          <a:ln w="12700">
            <a:solidFill>
              <a:srgbClr val="1B355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D2240"/>
          </a:solidFill>
          <a:ln w="12700">
            <a:solidFill>
              <a:srgbClr val="0D2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09 — ZAKLJUČAK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48640"/>
            <a:ext cx="5943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Zaključak &amp; pitanja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129844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E"/>
                </a:solidFill>
              </a:rPr>
              <a:t>Model 3 (Keras Tuner) proglašen je najboljim: F1=81.82%, Recall=82.65%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11096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91109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E"/>
                </a:solidFill>
              </a:rPr>
              <a:t>TF/Keras feedforward mreže uspešno rešavaju problem i bez SMOTE-a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60120" y="252374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E"/>
                </a:solidFill>
              </a:rPr>
              <a:t>ROC-AUC ≈ 0.98 za sve modele — razlike nastaju iz odlučne granice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36392"/>
            <a:ext cx="347472" cy="347472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31363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EE"/>
                </a:solidFill>
              </a:rPr>
              <a:t>Moguća unapređenja: SMOTE, autoenkoder, XGBoost, Bayesian optimizacija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B355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5020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= 81.82%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BCCE"/>
                </a:solidFill>
              </a:rPr>
              <a:t>Konačni model · Model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47472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474720" y="45262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6B8FAF"/>
                </a:solidFill>
              </a:rPr>
              <a:t>PITANJA &amp; DISKUSIJA</a:t>
            </a:r>
            <a:endParaRPr lang="en-US" sz="900" dirty="0"/>
          </a:p>
        </p:txBody>
      </p:sp>
      <p:sp>
        <p:nvSpPr>
          <p:cNvPr id="25" name="Text 9"/>
          <p:cNvSpPr/>
          <p:nvPr/>
        </p:nvSpPr>
        <p:spPr>
          <a:xfrm>
            <a:off x="6766560" y="34747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sr-Latn-RS" sz="1100" b="1" dirty="0" smtClean="0">
                <a:solidFill>
                  <a:srgbClr val="AABCCE"/>
                </a:solidFill>
              </a:rPr>
              <a:t>Student:</a:t>
            </a:r>
          </a:p>
          <a:p>
            <a:pPr marL="0" indent="0" algn="ctr">
              <a:buNone/>
            </a:pPr>
            <a:r>
              <a:rPr lang="en-US" sz="1100" dirty="0" err="1" smtClean="0">
                <a:solidFill>
                  <a:srgbClr val="AABCCE"/>
                </a:solidFill>
              </a:rPr>
              <a:t>Aleksandar</a:t>
            </a:r>
            <a:r>
              <a:rPr lang="en-US" sz="1100" dirty="0" smtClean="0">
                <a:solidFill>
                  <a:srgbClr val="AABCCE"/>
                </a:solidFill>
              </a:rPr>
              <a:t> </a:t>
            </a:r>
            <a:r>
              <a:rPr lang="en-US" sz="1100" dirty="0" err="1" smtClean="0">
                <a:solidFill>
                  <a:srgbClr val="AABCCE"/>
                </a:solidFill>
              </a:rPr>
              <a:t>Stoj</a:t>
            </a:r>
            <a:r>
              <a:rPr lang="sr-Latn-RS" sz="1100" dirty="0" smtClean="0">
                <a:solidFill>
                  <a:srgbClr val="AABCCE"/>
                </a:solidFill>
              </a:rPr>
              <a:t>i</a:t>
            </a:r>
            <a:r>
              <a:rPr lang="en-US" sz="1100" dirty="0" err="1" smtClean="0">
                <a:solidFill>
                  <a:srgbClr val="AABCCE"/>
                </a:solidFill>
              </a:rPr>
              <a:t>lković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ABCCE"/>
                </a:solidFill>
              </a:rPr>
              <a:t>2022/0102</a:t>
            </a:r>
            <a:endParaRPr lang="en-US" sz="1100" dirty="0"/>
          </a:p>
        </p:txBody>
      </p:sp>
      <p:sp>
        <p:nvSpPr>
          <p:cNvPr id="26" name="Text 10"/>
          <p:cNvSpPr/>
          <p:nvPr/>
        </p:nvSpPr>
        <p:spPr>
          <a:xfrm>
            <a:off x="6675120" y="1143000"/>
            <a:ext cx="23504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 smtClean="0">
                <a:solidFill>
                  <a:srgbClr val="6B8FAF"/>
                </a:solidFill>
              </a:rPr>
              <a:t>Fakultet</a:t>
            </a:r>
            <a:r>
              <a:rPr lang="en-US" sz="1200" b="1" dirty="0" smtClean="0">
                <a:solidFill>
                  <a:srgbClr val="6B8FAF"/>
                </a:solidFill>
              </a:rPr>
              <a:t> </a:t>
            </a:r>
            <a:r>
              <a:rPr lang="en-US" sz="1200" b="1" dirty="0" err="1" smtClean="0">
                <a:solidFill>
                  <a:srgbClr val="6B8FAF"/>
                </a:solidFill>
              </a:rPr>
              <a:t>organizacionih</a:t>
            </a:r>
            <a:r>
              <a:rPr lang="en-US" sz="1200" b="1" dirty="0" smtClean="0">
                <a:solidFill>
                  <a:srgbClr val="6B8FAF"/>
                </a:solidFill>
              </a:rPr>
              <a:t> </a:t>
            </a:r>
            <a:r>
              <a:rPr lang="en-US" sz="1200" b="1" dirty="0" err="1" smtClean="0">
                <a:solidFill>
                  <a:srgbClr val="6B8FAF"/>
                </a:solidFill>
              </a:rPr>
              <a:t>nauka</a:t>
            </a:r>
            <a:endParaRPr lang="sr-Latn-RS" sz="1200" b="1" dirty="0" smtClean="0">
              <a:solidFill>
                <a:srgbClr val="6B8FAF"/>
              </a:solidFill>
            </a:endParaRPr>
          </a:p>
          <a:p>
            <a:pPr marL="0" indent="0" algn="ctr">
              <a:buNone/>
            </a:pPr>
            <a:r>
              <a:rPr lang="sr-Latn-RS" sz="1100" b="1" dirty="0" smtClean="0">
                <a:solidFill>
                  <a:srgbClr val="6B8FAF"/>
                </a:solidFill>
              </a:rPr>
              <a:t>Laboratorija za veštačku inteligenciju</a:t>
            </a:r>
          </a:p>
          <a:p>
            <a:pPr marL="0" indent="0" algn="ctr">
              <a:buNone/>
            </a:pPr>
            <a:r>
              <a:rPr lang="en-US" sz="900" dirty="0" err="1" smtClean="0">
                <a:solidFill>
                  <a:srgbClr val="6B8FAF"/>
                </a:solidFill>
              </a:rPr>
              <a:t>Duboko</a:t>
            </a:r>
            <a:r>
              <a:rPr lang="en-US" sz="900" dirty="0" smtClean="0">
                <a:solidFill>
                  <a:srgbClr val="6B8FAF"/>
                </a:solidFill>
              </a:rPr>
              <a:t> </a:t>
            </a:r>
            <a:r>
              <a:rPr lang="en-US" sz="900" dirty="0" err="1" smtClean="0">
                <a:solidFill>
                  <a:srgbClr val="6B8FAF"/>
                </a:solidFill>
              </a:rPr>
              <a:t>učenje</a:t>
            </a:r>
            <a:r>
              <a:rPr lang="en-US" sz="900" dirty="0" smtClean="0">
                <a:solidFill>
                  <a:srgbClr val="6B8FAF"/>
                </a:solidFill>
              </a:rPr>
              <a:t> </a:t>
            </a:r>
            <a:r>
              <a:rPr lang="en-US" sz="900" dirty="0" err="1" smtClean="0">
                <a:solidFill>
                  <a:srgbClr val="6B8FAF"/>
                </a:solidFill>
              </a:rPr>
              <a:t>i</a:t>
            </a:r>
            <a:r>
              <a:rPr lang="en-US" sz="900" dirty="0" smtClean="0">
                <a:solidFill>
                  <a:srgbClr val="6B8FAF"/>
                </a:solidFill>
              </a:rPr>
              <a:t> </a:t>
            </a:r>
            <a:r>
              <a:rPr lang="en-US" sz="900" dirty="0" err="1" smtClean="0">
                <a:solidFill>
                  <a:srgbClr val="6B8FAF"/>
                </a:solidFill>
              </a:rPr>
              <a:t>neuronske</a:t>
            </a:r>
            <a:r>
              <a:rPr lang="en-US" sz="900" dirty="0" smtClean="0">
                <a:solidFill>
                  <a:srgbClr val="6B8FAF"/>
                </a:solidFill>
              </a:rPr>
              <a:t> </a:t>
            </a:r>
            <a:r>
              <a:rPr lang="en-US" sz="900" dirty="0" err="1" smtClean="0">
                <a:solidFill>
                  <a:srgbClr val="6B8FAF"/>
                </a:solidFill>
              </a:rPr>
              <a:t>mreže</a:t>
            </a:r>
            <a:endParaRPr lang="en-US" sz="900" dirty="0" smtClean="0"/>
          </a:p>
          <a:p>
            <a:pPr marL="0" indent="0" algn="ctr">
              <a:buNone/>
            </a:pPr>
            <a:r>
              <a:rPr lang="en-US" sz="900" dirty="0" smtClean="0">
                <a:solidFill>
                  <a:srgbClr val="6B8FAF"/>
                </a:solidFill>
              </a:rPr>
              <a:t>2025/26</a:t>
            </a:r>
            <a:endParaRPr lang="en-US" sz="900" dirty="0"/>
          </a:p>
        </p:txBody>
      </p:sp>
      <p:pic>
        <p:nvPicPr>
          <p:cNvPr id="27" name="Picture 2" descr="ОАС – Основне академске студије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401787" y="726048"/>
            <a:ext cx="741226" cy="46814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740</Words>
  <Application>Microsoft Office PowerPoint</Application>
  <PresentationFormat>On-screen Show (16:9)</PresentationFormat>
  <Paragraphs>172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Detekcija finansijskih prevara pomoću neuronskih mreža</dc:title>
  <dc:subject>PptxGenJS Presentation</dc:subject>
  <dc:creator>PptxGenJS</dc:creator>
  <cp:lastModifiedBy>Aleksandar Stojilković</cp:lastModifiedBy>
  <cp:revision>8</cp:revision>
  <dcterms:created xsi:type="dcterms:W3CDTF">2026-06-10T06:32:28Z</dcterms:created>
  <dcterms:modified xsi:type="dcterms:W3CDTF">2026-06-10T07:06:38Z</dcterms:modified>
</cp:coreProperties>
</file>